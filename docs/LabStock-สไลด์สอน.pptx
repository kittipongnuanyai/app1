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สไลด์เปิด: แนะนำว่าตลอดหน่วยนี้จะสร้างแอปจริง 1 ตัวชื่อ LabStock ระบบยืม-คืนอุปกรณ์แล็บ โดยทำทีละขั้นตอน คู่กับคู่มือปฏิบัติการ (PDF) ที่มีโค้ดเต็ม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ให้นักศึกษาเห็นภาพปลายทางก่อน: 6 หน้า มี 2 บทบาท (นักศึกษา/แอดมิน) ชี้ให้เห็นปุ่ม + สีอำพันที่มีเฉพาะแอดมิน และป้ายแดง 'ยืมไม่ได้'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เชื่อมโยงกับผลลัพธ์การเรียนรู้ของรายวิชา: นักศึกษาจะได้แตะทุกหมวดพื้นฐานของ Flutter ผ่านแอปเดียว ไม่ใช่ตัวอย่างแยกชิ้น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แต่ละ Step ในสไลด์มี 3 ส่วน: ความรู้ใหม่ → โค้ดสำคัญ → Checkpoint โค้ดเต็มอยู่ในคู่มือ PDF ไม่ต้องพิมพ์ตามจากสไลด์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ย้ำว่าสเปกกำหนดสีและโครงไว้แล้ว เราจะใส่ไว้ใน ThemeData ที่เดียว (Step 1) ทุกหน้าจึงหน้าตาเหมือนกันอัตโนมัติ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อธิบายว่ามีหน้าที่ 'อยู่ในแถบล่าง' 3 หน้า กับหน้าที่ 'ถูก push ทับ' (รายละเอียด, ฟอร์ม) ซึ่งไม่มีแถบล่าง เพราะไม่ได้อยู่ใน HomeShell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แนวคิดสำคัญที่สุดของหน่วยนี้ ให้เวลาอธิบายภาพนี้ 5 นาที นักศึกษามักเอาตรรกะไปใส่ในหน้าจอ ทำให้ต่อฐานข้อมูลยาก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ปัญหาที่พบบ่อย: flutter doctor ติด Android licenses (รัน flutter doctor --android-licenses) หรือ Xcode ยังไม่ได้เปิดครั้งแรก ถ้าเครื่องช้าให้รันบน Chrome ก่อน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ชี้ให้เห็น 0xFF นำหน้า = ค่า alpha ทึบ ตามด้วย RRGGBB และอธิบายว่า Size.fromHeight(48) ทำให้ปุ่มทุกปุ่มสูงเท่ากันทั้งแอป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ชั่วคราวเป็น Scaffold เปล่า เพราะยังไม่มีหน้า Login เดี๋ยว Step 3 จะเปลี่ยน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วาด ER ง่าย ๆ บนกระดาน: users 1-n borrows n-1 items ให้เห็นว่าโมเดลใน Dart กับตารางใน MySQL คือสิ่งเดียวกัน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ถามนักศึกษา: ทำไมตัดเวลาออก (สร้าง DateTime ใหม่จาก ปี/เดือน/วัน) ก่อน difference? — เพราะไม่งั้น 23:59 กับ 00:01 จะนับเป็นคนละวันผิด 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นี้ไม่มีอะไรให้ดูบนจอ ให้ใช้ flutter analyze เป็นตัวยืนยันแทน และให้นักศึกษาอธิบายโมเดลให้เพื่อนฟัง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เทียบกับ setState: setState วาดใหม่แค่ widget ตัวเอง แต่ ChangeNotifier ทำให้หลายหน้าที่ไม่รู้จักกันอัปเดตพร้อมกันได้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นี่คือวิธีทำงานจริงในทีม: ตกลง interface (ชื่อคลาส + พารามิเตอร์) ก่อน แล้วแยกกันทำแต่ละหน้าได้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การ login จำลอง: ชื่อขึ้นต้นด้วย admin = แอดมิน ให้นักศึกษาลองทั้งสองแบบตั้งแต่ตอนนี้ เพราะ Step 6 จะเห็นปุ่ม + ต่างกัน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SingleChildScrollView ป้องกันคีย์บอร์ดดันจนล้น (RenderFlex overflow) ซึ่งเป็น error ที่นักศึกษาเจอบ่อยที่สุด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ให้เวลาทำ 30 นาที เดินดูทีละโต๊ะ จุดที่พลาดบ่อย: ลืม dispose controller, ใช้ push แทน pushReplacement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ทดลองหลัง Step 6: เปลี่ยน IndexedStack เป็น _pages[_index] แล้วพิมพ์ค้นหา สลับแท็บ กลับมา ข้อความจะหาย — ให้นักศึกษาอธิบายเหตุผล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padding ล่าง 88 ของ GridView มีไว้ให้ FAB ไม่บังการ์ดใบสุดท้าย ให้นักศึกษาลองเอาออกแล้วเลื่อนสุด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ชี้ที่ภาพ: ค้นหา → ชิป → กริด → FAB ให้นักศึกษาชี้ว่าแต่ละส่วนตรงกับบรรทัดไหนใน tree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ให้เวลา 40 นาที Step นี้ยาวที่สุด แบ่งเป็น 2 รอบ: รอบแรกให้กริดขึ้นก่อน รอบสองค่อยใส่ค้นหา/กรอง/FAB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แพตเทิร์น await showDialog → ตรวจ null → ทำงาน → ตรวจ mounted ใช้ซ้ำในหน้าคืนของ (Step 8) และลบ (ท้าทาย Step 10)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Dialog ต้องเป็น StatefulWidget แยกต่างหาก เพราะจำนวนและวันที่เปลี่ยนภายใน Dialog ถ้าใช้ setState ของหน้าหลัก Dialog จะไม่วาดใหม่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ถามว่าทำไมการ์ดที่หน้ารายการเปลี่ยนเป็น 'เหลือ 4' ทั้งที่เราไม่ได้เขียนโค้ดอัปเดตหน้านั้นเลย → notifyListeners + ListenableBuilder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ตรรกะ isOverdue/isDueSoon อยู่ในโมเดล (Step 2) หน้าจอแค่เลือกสี — ตัวอย่างการแยก 'ตรรกะ' ออกจาก 'การแสดงผล'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ให้ทดสอบ flow เต็ม: ยืม → ดูในแท็บ → คืน → ดูสต็อก นี่คือ 'user story' หลักของแอป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สั้น ใช้เป็นช่วงให้คนที่ตามไม่ทันตามให้ทัน และให้คนที่เสร็จแล้วทำท้าทาย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แสดงตัวอย่างสดว่าถ้าไม่ใส่ Info.plist แล้วกดถ่ายรูปบนเครื่องจริง แอปจะ crash ทันที ให้จำเป็นบทเรียน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cascade operator (..) เป็นของใหม่สำหรับหลายคน อธิบายว่าเท่ากับเขียน item.name = ...; item.category = ...; ทีละบรรทัด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จุดพลาดบ่อย: ลืม initialValue ของ Dropdown ทำให้โหมดแก้ไขไม่แสดงหมวดเดิม และลืม pod install หลังเพิ่ม package บน 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รันสดให้ดู 1 ครั้ง แล้วแก้ข้อความปุ่มให้ผิด รันอีกครั้งให้เห็นว่า test จับได้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ให้นักศึกษาเลือก 1 หมวดที่ตัวเองยังไม่มั่นใจ แล้วกลับไปอ่านโค้ด Step ที่เกี่ยวข้องในคู่มือ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ย้ำภาพสถาปัตยกรรม (สไลด์ 7): เพราะหน้าจอคุยกับ AppState เท่านั้น เฟส 2 จึงแก้แค่ชั้นข้อมูล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188720"/>
            <a:ext cx="1463040" cy="1463040"/>
          </a:xfrm>
          <a:prstGeom prst="roundRect">
            <a:avLst>
              <a:gd name="adj" fmla="val 21875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รายวิชา 5534408 การพัฒนาแอปพลิเคชันบนอุปกรณ์เคลื่อนที่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LabStock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80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สร้างแอปคลังอุปกรณ์แล็บ ICE ด้วย Flutter ทีละขั้นตอน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เฟส 1 · ส่วนติดต่อผู้ใช้และการนำทาง · 6 หน้าจอ · 12 ขั้นตอน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454896" y="585216"/>
            <a:ext cx="2591410" cy="5504688"/>
          </a:xfrm>
          <a:prstGeom prst="roundRect">
            <a:avLst>
              <a:gd name="adj" fmla="val 88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9" name="Image 0" descr="/Users/kittipongnuanyai/Code_KPN/App1/docs/shots/03_list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640080"/>
            <a:ext cx="2481682" cy="53949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แอปที่เราจะสร้างด้วยกัน — 6 หน้าจอ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2336" y="1271016"/>
            <a:ext cx="2044598" cy="4315968"/>
          </a:xfrm>
          <a:prstGeom prst="roundRect">
            <a:avLst>
              <a:gd name="adj" fmla="val 1118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6" name="Image 0" descr="/Users/kittipongnuanyai/Code_KPN/App1/docs/shot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1934870" cy="42062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0" y="5623560"/>
            <a:ext cx="284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 เข้าสู่ระบบ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270272" y="1271016"/>
            <a:ext cx="2044598" cy="4315968"/>
          </a:xfrm>
          <a:prstGeom prst="roundRect">
            <a:avLst>
              <a:gd name="adj" fmla="val 1118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9" name="Image 1" descr="/Users/kittipongnuanyai/Code_KPN/App1/docs/shots/03_list_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36" y="1325880"/>
            <a:ext cx="1934870" cy="42062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67936" y="5623560"/>
            <a:ext cx="284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 รายการอุปกรณ์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138209" y="1271016"/>
            <a:ext cx="2044598" cy="4315968"/>
          </a:xfrm>
          <a:prstGeom prst="roundRect">
            <a:avLst>
              <a:gd name="adj" fmla="val 1118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2" name="Image 2" descr="/Users/kittipongnuanyai/Code_KPN/App1/docs/shots/04_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073" y="1325880"/>
            <a:ext cx="1934870" cy="42062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35873" y="5623560"/>
            <a:ext cx="284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 รายละเอียด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006145" y="1271016"/>
            <a:ext cx="2044598" cy="4315968"/>
          </a:xfrm>
          <a:prstGeom prst="roundRect">
            <a:avLst>
              <a:gd name="adj" fmla="val 1118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5" name="Image 3" descr="/Users/kittipongnuanyai/Code_KPN/App1/docs/shots/09_form_ad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1009" y="1325880"/>
            <a:ext cx="1934870" cy="42062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603809" y="5623560"/>
            <a:ext cx="284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 เพิ่ม/แก้ไข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7874081" y="1271016"/>
            <a:ext cx="2044598" cy="4315968"/>
          </a:xfrm>
          <a:prstGeom prst="roundRect">
            <a:avLst>
              <a:gd name="adj" fmla="val 1118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8" name="Image 4" descr="/Users/kittipongnuanyai/Code_KPN/App1/docs/shots/07_borrow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8945" y="1325880"/>
            <a:ext cx="1934870" cy="420624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471745" y="5623560"/>
            <a:ext cx="284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 การยืมของฉัน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9742018" y="1271016"/>
            <a:ext cx="2044598" cy="4315968"/>
          </a:xfrm>
          <a:prstGeom prst="roundRect">
            <a:avLst>
              <a:gd name="adj" fmla="val 1118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21" name="Image 5" descr="/Users/kittipongnuanyai/Code_KPN/App1/docs/shots/08_profi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6882" y="1325880"/>
            <a:ext cx="1934870" cy="420624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339682" y="5623560"/>
            <a:ext cx="28492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 โปรไฟล์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ทำแอปเดียว ได้ครบทุกเรื่องพื้นฐานของ Flutter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11880" cy="2103120"/>
          </a:xfrm>
          <a:prstGeom prst="roundRect">
            <a:avLst>
              <a:gd name="adj" fmla="val 652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โครงสร้างหน้าจอ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0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Scaffold · AppBar · BottomNavigationBar · TabBar · IndexedStack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88536" y="1371600"/>
            <a:ext cx="3611880" cy="2103120"/>
          </a:xfrm>
          <a:prstGeom prst="roundRect">
            <a:avLst>
              <a:gd name="adj" fmla="val 6522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7136" y="160020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1713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แสดงผลข้อมูล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517136" y="2240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GridView · ListView · Card · ListTile · Chip · CircleAvatar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119872" y="1371600"/>
            <a:ext cx="3611880" cy="2103120"/>
          </a:xfrm>
          <a:prstGeom prst="roundRect">
            <a:avLst>
              <a:gd name="adj" fmla="val 652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48472" y="160020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4847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88552" y="1600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รับข้อมูลจากผู้ใช้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348472" y="22402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TextField · Form/validator · Dropdown · DatePicker · image_picker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3611880" cy="2103120"/>
          </a:xfrm>
          <a:prstGeom prst="roundRect">
            <a:avLst>
              <a:gd name="adj" fmla="val 6522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การนำทาง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617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push · pushReplacement · pushAndRemoveUntil · ส่งค่า/รับค่ากลับจาก Dialog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88536" y="3749040"/>
            <a:ext cx="3611880" cy="2103120"/>
          </a:xfrm>
          <a:prstGeom prst="roundRect">
            <a:avLst>
              <a:gd name="adj" fmla="val 652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7136" y="397764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17136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157216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สถานะของแอป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4517136" y="4617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setState · ChangeNotifier · ListenableBuilder · singleton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119872" y="3749040"/>
            <a:ext cx="3611880" cy="2103120"/>
          </a:xfrm>
          <a:prstGeom prst="roundRect">
            <a:avLst>
              <a:gd name="adj" fmla="val 6522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48472" y="397764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48472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988552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คุณภาพโค้ด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348472" y="4617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ธีมกลาง · แยก widget ย่อย · flutter analyze · widget test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แผนการสอน 12 ขั้นตอน (ประมาณ 10 คาบ)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03A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25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เตรียมเครื่องมือ สร้างโปรเจกต์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 นาที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502920" cy="502920"/>
          </a:xfrm>
          <a:prstGeom prst="ellipse">
            <a:avLst/>
          </a:prstGeom>
          <a:solidFill>
            <a:srgbClr val="03A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075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ธีมสีและจุดเริ่มต้นของแอป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07568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 นาที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" y="2916936"/>
            <a:ext cx="502920" cy="502920"/>
          </a:xfrm>
          <a:prstGeom prst="ellipse">
            <a:avLst/>
          </a:prstGeom>
          <a:solidFill>
            <a:srgbClr val="03A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825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โมเดลข้อมูลและข้อมูลจำลอง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82549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50 นาที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7200" y="3666744"/>
            <a:ext cx="502920" cy="502920"/>
          </a:xfrm>
          <a:prstGeom prst="ellipse">
            <a:avLst/>
          </a:prstGeom>
          <a:solidFill>
            <a:srgbClr val="03A9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57530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AppState และโครงหน้าเปล่า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57530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50 นาที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4416552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3251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 Login และสมัครสมาชิก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43251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60 นาที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7200" y="516636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074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HomeShell และแถบเมนูล่าง</a:t>
            </a:r>
            <a:endParaRPr lang="en-US" sz="2100" dirty="0"/>
          </a:p>
        </p:txBody>
      </p:sp>
      <p:sp>
        <p:nvSpPr>
          <p:cNvPr id="28" name="Text 26"/>
          <p:cNvSpPr txBox="1"/>
          <p:nvPr/>
        </p:nvSpPr>
        <p:spPr>
          <a:xfrm>
            <a:off x="4937760" y="50749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 นาที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245352" y="1417320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45352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3258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หน้ารายการอุปกรณ์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10725912" y="13258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70 นาที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245352" y="2167128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45352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075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หน้ารายละเอียดและ Dialog ยืม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10725912" y="207568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70 นาที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245352" y="2916936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45352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82549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หน้าการยืมของฉัน</a:t>
            </a:r>
            <a:endParaRPr lang="en-US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10725912" y="2825496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50 นาที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245352" y="3666744"/>
            <a:ext cx="502920" cy="502920"/>
          </a:xfrm>
          <a:prstGeom prst="ellipse">
            <a:avLst/>
          </a:prstGeom>
          <a:solidFill>
            <a:srgbClr val="2835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45352" y="3666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57530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หน้าโปรไฟล์และออกจากระบบ</a:t>
            </a:r>
            <a:endParaRPr lang="en-US" sz="2100" dirty="0"/>
          </a:p>
        </p:txBody>
      </p:sp>
      <p:sp>
        <p:nvSpPr>
          <p:cNvPr id="44" name="Text 42"/>
          <p:cNvSpPr txBox="1"/>
          <p:nvPr/>
        </p:nvSpPr>
        <p:spPr>
          <a:xfrm>
            <a:off x="10725912" y="3575304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 นาที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6245352" y="4416552"/>
            <a:ext cx="502920" cy="5029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45352" y="4416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32511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ฟอร์มเพิ่ม/แก้ไข + image_picker</a:t>
            </a:r>
            <a:endParaRPr lang="en-US" sz="2100" dirty="0"/>
          </a:p>
        </p:txBody>
      </p:sp>
      <p:sp>
        <p:nvSpPr>
          <p:cNvPr id="48" name="Text 46"/>
          <p:cNvSpPr txBox="1"/>
          <p:nvPr/>
        </p:nvSpPr>
        <p:spPr>
          <a:xfrm>
            <a:off x="10725912" y="4325112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70 นาที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245352" y="5166360"/>
            <a:ext cx="502920" cy="50292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245352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0749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ทดสอบอัตโนมัติและสรุป</a:t>
            </a:r>
            <a:endParaRPr lang="en-US" sz="2100" dirty="0"/>
          </a:p>
        </p:txBody>
      </p:sp>
      <p:sp>
        <p:nvSpPr>
          <p:cNvPr id="52" name="Text 50"/>
          <p:cNvSpPr txBox="1"/>
          <p:nvPr/>
        </p:nvSpPr>
        <p:spPr>
          <a:xfrm>
            <a:off x="10725912" y="507492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 นาที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ฟ้า = วางรากฐาน   ·   คราม = สร้างหน้าจอ   ·   อำพัน = ปรับปรุงและสรุป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ข้อกำหนดการออกแบบ (จากสเปก UI)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48840" cy="1463040"/>
          </a:xfrm>
          <a:prstGeom prst="roundRect">
            <a:avLst>
              <a:gd name="adj" fmla="val 9375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Indigo · สีหลัก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#283593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371600"/>
            <a:ext cx="2148840" cy="1463040"/>
          </a:xfrm>
          <a:prstGeom prst="roundRect">
            <a:avLst>
              <a:gd name="adj" fmla="val 9375"/>
            </a:avLst>
          </a:prstGeom>
          <a:solidFill>
            <a:srgbClr val="03A9F4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260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Sky · สีรอง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#03A9F4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20640" y="1371600"/>
            <a:ext cx="2148840" cy="1463040"/>
          </a:xfrm>
          <a:prstGeom prst="roundRect">
            <a:avLst>
              <a:gd name="adj" fmla="val 9375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780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Amber · สีเน้น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#FFB300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20040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ฟอนต์ หัวข้อ 20–22 · เนื้อหา 14–16</a:t>
            </a:r>
            <a:endParaRPr lang="en-US" sz="21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โครงทุกหน้า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Scaffold</a:t>
            </a:r>
            <a:pPr algn="l"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→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AppBar</a:t>
            </a:r>
            <a:pPr algn="l"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body</a:t>
            </a:r>
            <a:endParaRPr lang="en-US" sz="21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แถบล่าง 3 เมนู รายการ · การยืมของฉัน · โปรไฟล์ (หน้า Login และฟอร์มไม่มี)</a:t>
            </a:r>
            <a:endParaRPr lang="en-US" sz="21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 บทบาท นักศึกษา และ แอดมิน — แอดมินเห็นปุ่มเพิ่ม/แก้ไขเพิ่มมา</a:t>
            </a:r>
            <a:endParaRPr lang="en-US" sz="21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กฎ UI เหลือ 0 → ป้ายแดง "ยืมไม่ได้" · ใกล้ครบกำหนด → ป้ายส้ม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357616" y="1271016"/>
            <a:ext cx="2381098" cy="5047488"/>
          </a:xfrm>
          <a:prstGeom prst="roundRect">
            <a:avLst>
              <a:gd name="adj" fmla="val 960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6" name="Image 0" descr="/Users/kittipongnuanyai/Code_KPN/App1/docs/shots/04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0" y="1325880"/>
            <a:ext cx="227137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แผนผังการเชื่อมหน้า (Navigation Map)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B2470"/>
          </a:solidFill>
          <a:ln w="12700">
            <a:solidFill>
              <a:srgbClr val="1B24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92608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Login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566160" y="29260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รายการอุปกรณ์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(หน้าหลัก)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0" y="3337560"/>
            <a:ext cx="1005840" cy="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148840" y="2953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เข้าสำเร็จ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566160" y="475488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03A9F4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4754880"/>
            <a:ext cx="2377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การยืมของฉัน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66160" y="571500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03A9F4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5715000"/>
            <a:ext cx="2377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โปรไฟล์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แถบล่างสลับ 3 หน้า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3749040"/>
            <a:ext cx="0" cy="1005840"/>
          </a:xfrm>
          <a:prstGeom prst="line">
            <a:avLst/>
          </a:prstGeom>
          <a:noFill/>
          <a:ln w="25400">
            <a:solidFill>
              <a:srgbClr val="5F636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15200" y="292608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292608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รายละเอียดอุปกรณ์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3337560"/>
            <a:ext cx="1371600" cy="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715000" y="2953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แตะการ์ด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241280" y="2926080"/>
            <a:ext cx="1554480" cy="822960"/>
          </a:xfrm>
          <a:prstGeom prst="roundRect">
            <a:avLst>
              <a:gd name="adj" fmla="val 13333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41280" y="292608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Dialog ยืม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692640" y="3337560"/>
            <a:ext cx="548640" cy="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0" y="1371600"/>
            <a:ext cx="2377440" cy="822960"/>
          </a:xfrm>
          <a:prstGeom prst="roundRect">
            <a:avLst>
              <a:gd name="adj" fmla="val 13333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เพิ่ม/แก้ไขอุปกรณ์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943600" y="2926080"/>
            <a:ext cx="1371600" cy="-114300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715000" y="19705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 + (แอดมิน)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503920" y="2926080"/>
            <a:ext cx="0" cy="-73152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58952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ดินสอ (แอดมิน)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0" y="475488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4754880"/>
            <a:ext cx="2377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คืนของ → รีเฟรช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943600" y="5120640"/>
            <a:ext cx="1371600" cy="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715000" y="47365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ปุ่มคืน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15200" y="5715000"/>
            <a:ext cx="2377440" cy="731520"/>
          </a:xfrm>
          <a:prstGeom prst="roundRect">
            <a:avLst>
              <a:gd name="adj" fmla="val 15000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0" y="5715000"/>
            <a:ext cx="23774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ออกจากระบบ → Login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943600" y="6080760"/>
            <a:ext cx="1371600" cy="0"/>
          </a:xfrm>
          <a:prstGeom prst="line">
            <a:avLst/>
          </a:prstGeom>
          <a:noFill/>
          <a:ln w="2540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48640" y="1371600"/>
            <a:ext cx="6217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ปุ่ม back ของระบบจะย้อนตามลูกศรได้ ยกเว้น Login → หน้าหลัก (pushReplacement) และออกจากระบบ (pushAndRemoveUntil)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สถาปัตยกรรม: หน้าจอคุยกับ AppState เท่านั้น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Login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755648" y="146304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55648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รายการ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62656" y="146304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62656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รายละเอียด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9664" y="146304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9664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76672" y="146304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76672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การยืม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0" y="1463040"/>
            <a:ext cx="1097280" cy="731520"/>
          </a:xfrm>
          <a:prstGeom prst="roundRect">
            <a:avLst>
              <a:gd name="adj" fmla="val 15000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463040"/>
            <a:ext cx="10972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โปรไฟล์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240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lib/screens/  (UI เท่านั้น ไม่มีตรรกะข้อมูล)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114800" y="2606040"/>
            <a:ext cx="0" cy="548640"/>
          </a:xfrm>
          <a:prstGeom prst="line">
            <a:avLst/>
          </a:prstGeom>
          <a:noFill/>
          <a:ln w="31750">
            <a:solidFill>
              <a:srgbClr val="5F6368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28800" y="320040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28800" y="3200400"/>
            <a:ext cx="45720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AppState (ChangeNotifier)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login · borrow · returnItem · addEquipment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lib/data/app_state.dart · ทุกหน้าฟังผ่าน ListenableBuilder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26080" y="4526280"/>
            <a:ext cx="0" cy="548640"/>
          </a:xfrm>
          <a:prstGeom prst="line">
            <a:avLst/>
          </a:prstGeom>
          <a:noFill/>
          <a:ln w="317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463040" y="512064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03A9F4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46304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MockData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(เฟส 1 · ในหน่วยความจำ)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303520" y="4526280"/>
            <a:ext cx="0" cy="548640"/>
          </a:xfrm>
          <a:prstGeom prst="line">
            <a:avLst/>
          </a:prstGeom>
          <a:noFill/>
          <a:ln w="31750">
            <a:solidFill>
              <a:srgbClr val="5F6368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023360" y="5120640"/>
            <a:ext cx="2926080" cy="822960"/>
          </a:xfrm>
          <a:prstGeom prst="roundRect">
            <a:avLst>
              <a:gd name="adj" fmla="val 13333"/>
            </a:avLst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23360" y="5120640"/>
            <a:ext cx="2926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REST API + MySQL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(เฟส 2 · คาบถัดไป)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863840" y="1371600"/>
            <a:ext cx="3886200" cy="4663440"/>
          </a:xfrm>
          <a:prstGeom prst="roundRect">
            <a:avLst>
              <a:gd name="adj" fmla="val 3529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92440" y="15087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ทำไมต้องแยกชั้น?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011680"/>
            <a:ext cx="3429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หน้าจอไม่รู้ว่าข้อมูลมาจากไหน รู้แค่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AppState.instance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ยืมที่หน้ารายละเอียด → หน้ารายการและหน้าการยืมอัปเดตเอง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ตอนต่อ MySQL แก้แค่ใน AppState ไม่ต้องแตะหน้าจอ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ทดสอบตรรกะได้โดยไม่ต้องเปิดแอป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เตรียมเครื่องมือและสร้างโปรเจกต์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ทุกคนรัน flutter doctor ผ่าน สร้างโปรเจกต์ labstock และรันแอปเริ่มต้นได้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30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ตรวจสอบเครื่องมือและสร้างโปรเจกต์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766560" cy="2377440"/>
          </a:xfrm>
          <a:prstGeom prst="roundRect">
            <a:avLst>
              <a:gd name="adj" fmla="val 4615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400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--version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doctor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create --project-name labstock --org th.ac.pbru.ice labstock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cd labstock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run          # หรือ flutter run -d chrome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6766560" cy="2286000"/>
          </a:xfrm>
          <a:prstGeom prst="roundRect">
            <a:avLst>
              <a:gd name="adj" fmla="val 6000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06908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โครงสร้างโปรเจกต์ที่ควรรู้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572000"/>
            <a:ext cx="6309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lib/main.dart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จุดเริ่มต้น (main → runApp)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pubspec.yaml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รายการ package และ asset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android/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ios/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โค้ดเฉพาะแพลตฟอร์ม (แทบไม่ต้องแตะ)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test/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ไฟล์ทดสอบอัตโนมัติ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1325880"/>
            <a:ext cx="4251960" cy="4892040"/>
          </a:xfrm>
          <a:prstGeom prst="roundRect">
            <a:avLst>
              <a:gd name="adj" fmla="val 3226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4630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1965960"/>
            <a:ext cx="3794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แอป Counter เปิดขึ้นบน Emulator หรือ Chrome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 + แล้วตัวเลขเพิ่ม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แก้ข้อความใน main.dart กด r (Hot reload) เห็นผลทันที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สร้างโฟลเดอร์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lib/models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utils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widgets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screens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ไว้ล่วงหน้า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ธีมสีและจุดเริ่มต้นของแอป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กำหนดสี Indigo / Sky / Amber ไว้ที่เดียวใน ThemeData และเข้าใจโครง MaterialApp → Scaffold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40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ThemeData คือ "ที่เดียว" ของหน้าตาแอป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937760" cy="4892040"/>
          </a:xfrm>
          <a:prstGeom prst="roundRect">
            <a:avLst>
              <a:gd name="adj" fmla="val 2804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4480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ColorScheme.fromSeed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สร้างชุดสีทั้งระบบจากสีตั้งต้น</a:t>
            </a:r>
            <a:endParaRPr lang="en-US" sz="14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AppBarTheme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ElevatedButtonThemeData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InputDecorationTheme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กำหนดค่าเริ่มต้นของ widget แต่ละชนิด</a:t>
            </a:r>
            <a:endParaRPr lang="en-US" sz="14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ทุกหน้าได้สีและรูปทรงเดียวกันโดยไม่ต้องใส่ซ้ำ</a:t>
            </a:r>
            <a:endParaRPr lang="en-US" sz="14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แยกไฟล์แล้ว </a:t>
            </a:r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 'theme.dart'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ด้วย relative path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1325880"/>
            <a:ext cx="608076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399032"/>
            <a:ext cx="5715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lib/theme.dart (ย่อ)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1737360"/>
            <a:ext cx="5715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AppColors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 const indigo = Color(0xFF283593);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สีหลัก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 const sky    = Color(0xFF03A9F4);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สีรอง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 const amber  = Color(0xFFFFB300);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สีเน้น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ThemeData buildAppTheme()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scheme = ColorScheme.fromSeed(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seedColor: AppColors.indigo,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primary: AppColors.indigo,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secondary: AppColors.sky,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tertiary: AppColors.amber,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useMaterial3: true,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colorScheme: scheme,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appBarTheme: const AppBarTheme(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backgroundColor: AppColors.indigo,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foregroundColor: Colors.white),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elevatedButtonTheme: ElevatedButtonThemeData(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style: ElevatedButton.styleFrom(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minimumSize: const Size.fromHeight(48))),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... cardTheme, chipTheme, bottomNavigationBarTheme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main.dart: MaterialApp → theme → home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03504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lib/main.dart (ชั่วคราว)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5669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'package:flutter/material.dart'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'theme.dart'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void main()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runApp(const LabStockApp());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LabStockApp extends StatelessWidget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LabStockApp({super.key});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@override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Widget build(BuildContext context)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MaterialApp(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title: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'LabStock'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debugShowCheckedModeBanner: false,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theme: buildAppTheme(),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ชั่วคราว: จะเปลี่ยนเป็น LoginScreen ใน Step 3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home: Scaffold(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appBar: AppBar(title: const Text(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'LabStock'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body: const Center(child: Text(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'เริ่มต้น LabStock'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325880"/>
            <a:ext cx="4983480" cy="2377440"/>
          </a:xfrm>
          <a:prstGeom prst="roundRect">
            <a:avLst>
              <a:gd name="adj" fmla="val 5769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14630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965960"/>
            <a:ext cx="4526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AppBar สีน้ำเงินเข้ม ตัวอักษรขาว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พื้นหลังเทาอ่อน ไม่ใช่ขาวล้วน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ไม่มีป้าย DEBUG มุมขวาบน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3886200"/>
            <a:ext cx="4983480" cy="2331720"/>
          </a:xfrm>
          <a:prstGeom prst="roundRect">
            <a:avLst>
              <a:gd name="adj" fmla="val 5882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402336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5A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4526280"/>
            <a:ext cx="4526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AppColors.indigo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เป็นสีอื่น Hot reload แล้วดูว่าอะไรเปลี่ยนตามบ้าง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ลองลบ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debugShowCheckedModeBanner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ดูว่าเกิดอะไร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โมเดลข้อมูลและข้อมูลจำลอง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ออกแบบคลาส User · Equipment · Borrow ให้ตรงกับตารางฐานข้อมูล และเตรียมข้อมูลจำลอง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50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ตกลงเรื่อง "ข้อมูล" ก่อนวาดหน้าจอ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AppUser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2331720" cy="2377440"/>
          </a:xfrm>
          <a:prstGeom prst="rect">
            <a:avLst/>
          </a:prstGeom>
          <a:solidFill>
            <a:srgbClr val="F7F8FC"/>
          </a:solidFill>
          <a:ln w="19050">
            <a:solidFill>
              <a:srgbClr val="2835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01168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studentId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role (student/admin)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71800" y="137160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03A9F4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71800" y="1920240"/>
            <a:ext cx="2331720" cy="2377440"/>
          </a:xfrm>
          <a:prstGeom prst="rect">
            <a:avLst/>
          </a:prstGeom>
          <a:solidFill>
            <a:srgbClr val="F7F8FC"/>
          </a:solidFill>
          <a:ln w="19050">
            <a:solidFill>
              <a:srgbClr val="03A9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201168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name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category (enum)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 / available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description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imagePath?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0" y="1371600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3716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Borrow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0" y="1920240"/>
            <a:ext cx="2331720" cy="2377440"/>
          </a:xfrm>
          <a:prstGeom prst="rect">
            <a:avLst/>
          </a:prstGeom>
          <a:solidFill>
            <a:srgbClr val="F7F8FC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01168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equipmentId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quantity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borrowDate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dueDate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returnDate?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20640" y="2743200"/>
            <a:ext cx="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Borrow อ้างถึง Equipment ด้วย equipmentId (เหมือน foreign key)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46720" y="1371600"/>
            <a:ext cx="3703320" cy="4846320"/>
          </a:xfrm>
          <a:prstGeom prst="roundRect">
            <a:avLst>
              <a:gd name="adj" fmla="val 3704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75320" y="15087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ภาษา Dart ที่ได้ใช้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011680"/>
            <a:ext cx="32461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class +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constructor + named parameters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required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enhanced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enum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มีค่าประกอบ (ชื่อไทย + ไอคอน)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getter คำนวณค่า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isOutOfStock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daysLeft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DateTime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และ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difference().inDays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?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nullable เช่น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DateTime? returnDate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937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ตรงกับตาราง MySQL ในเฟส 2: 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users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· 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items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· </a:t>
            </a:r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borrows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โค้ดสำคัญ: enhanced enum และ getter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66928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lib/models/equipment.dart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enum EquipmentCategory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board(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'บอร์ด'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Icons.developer_board),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sensor(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'เซนเซอร์'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Icons.sensors),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cable(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'สาย'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Icons.cable),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module(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'โมดูล'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Icons.memory),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tool(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'เครื่องมือ'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Icons.build);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EquipmentCategory(this.label, this.icon);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String label;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IconData icon;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Equipment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String id;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String name;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EquipmentCategory category;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int total;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int available;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String description;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String? imagePath;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Equipment({required this.id, required this.name, ...});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bool get isOutOfStock =&gt; available &lt;= 0;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55080" y="132588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1399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lib/models/borrow.dart + mock_data.dart (ย่อ)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1737360"/>
            <a:ext cx="5029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Borrow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...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bool get isReturned =&gt; returnDate != null;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/// วันที่เหลือก่อนครบกำหนด (ติดลบ = เลยกำหนด)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int get daysLeft 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today = DateTime.now();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d0 = DateTime(today.year, today.month, today.day);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d1 = DateTime(dueDate.year, dueDate.month, dueDate.day);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d1.difference(d0).inDays;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bool get isOverdue =&gt; !isReturned &amp;&amp; daysLeft &lt; 0;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bool get isDueSoon =&gt;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!isReturned &amp;&amp; daysLeft &gt;= 0 &amp;&amp; daysLeft &lt;= 3;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mock_data.dart — วันที่สัมพัทธ์กับวันนี้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DateTime d(int offset) =&gt;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DateTime(now.year, now.month, now.day + offset);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Borrow(..., borrowDate: d(-5), dueDate: d(2)),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Checkpoint และไฟล์ที่ต้องมีเมื่อจบ Step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852160" cy="3017520"/>
          </a:xfrm>
          <a:prstGeom prst="roundRect">
            <a:avLst>
              <a:gd name="adj" fmla="val 3636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ไฟล์ใหม่ 5 ไฟล์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5486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models/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├─ user.dart        AppUser + UserRole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├─ equipment.dart   Equipment + EquipmentCategory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└─ borrow.dart      Borrow + daysLeft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data/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└─ mock_data.dart   8 อุปกรณ์ · 4 รายการยืม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utils/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└─ thai_date.dart   "5 ก.ย." / "5 ก.ย. 2569"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5852160" cy="1645920"/>
          </a:xfrm>
          <a:prstGeom prst="roundRect">
            <a:avLst>
              <a:gd name="adj" fmla="val 833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7091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5A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120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เพิ่มอุปกรณ์จำลองอีก 2 ชิ้นในหมวด "เครื่องมือ"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เพิ่มหมวด "จอแสดงผล" พร้อม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Icons.monitor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0" y="1325880"/>
            <a:ext cx="5166360" cy="4892040"/>
          </a:xfrm>
          <a:prstGeom prst="roundRect">
            <a:avLst>
              <a:gd name="adj" fmla="val 2804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4630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965960"/>
            <a:ext cx="4709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analyze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→ No issues found!</a:t>
            </a:r>
            <a:endParaRPr lang="en-US" sz="14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แอปยังหน้าตาเหมือน Step 1 (ขั้นนี้ยังไม่แตะ UI)</a:t>
            </a:r>
            <a:endParaRPr lang="en-US" sz="14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อธิบายได้ว่า </a:t>
            </a:r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available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ต่างจาก </a:t>
            </a:r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total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อย่างไร</a:t>
            </a:r>
            <a:endParaRPr lang="en-US" sz="14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อธิบายได้ว่าทำไม </a:t>
            </a:r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returnDate</a:t>
            </a:r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เป็น nullable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AppState และโครงหน้าเปล่าทุกหน้า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สร้างชั้นข้อมูลกลางที่ทุกหน้าใช้ร่วมกัน และสร้างไฟล์หน้าจอทั้ง 8 ไฟล์เป็นโครงเปล่า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50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ChangeNotifier + singleton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675120" cy="3931920"/>
          </a:xfrm>
          <a:prstGeom prst="roundRect">
            <a:avLst>
              <a:gd name="adj" fmla="val 2791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lib/data/app_state.dart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3093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AppState extends ChangeNotifier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AppState._();      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ซ่อน constructor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 final AppState instance = AppState._();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ตัวเดียวทั้งแอป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AppUser? _currentUser;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List&lt;Equipment&gt; _equipment = MockData.equipment();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List&lt;Borrow&gt; _borrows = MockData.borrows();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bool get isAdmin =&gt; _currentUser?.isAdmin ?? false;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List&lt;Equipment&gt; get equipment =&gt; List.unmodifiable(_equipment);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bool borrow(Equipment item, int quantity, DateTime dueDate) 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(quantity &lt;= 0 || quantity &gt; item.available) return false;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item.available -= quantity;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_borrows.add(Borrow(...));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notifyListeners();      </a:t>
            </a:r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← บอกทุกหน้าที่ฟังอยู่ให้วาดใหม่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true;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406640" y="1325880"/>
            <a:ext cx="4343400" cy="3931920"/>
          </a:xfrm>
          <a:prstGeom prst="roundRect">
            <a:avLst>
              <a:gd name="adj" fmla="val 3488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4630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965960"/>
            <a:ext cx="3886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notifyListeners()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= "ข้อมูลเปลี่ยนแล้วนะ"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หน้าจอห่อด้วย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ListenableBuilder(listenable: state)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จะ build ใหม่อัตโนมัติ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List.unmodifiable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กันหน้าจอแอบแก้ list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singleton: เรียก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AppState.instance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ได้จากทุกที่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440680"/>
            <a:ext cx="11292840" cy="777240"/>
          </a:xfrm>
          <a:prstGeom prst="roundRect">
            <a:avLst>
              <a:gd name="adj" fmla="val 17647"/>
            </a:avLst>
          </a:prstGeom>
          <a:solidFill>
            <a:srgbClr val="F3E9F8"/>
          </a:solidFill>
          <a:ln w="12700">
            <a:solidFill>
              <a:srgbClr val="F3E9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577840"/>
            <a:ext cx="10835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080760"/>
            <a:ext cx="108356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/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53212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1B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สำหรับผู้สอน: เปรียบ AppState เป็น "ฐานข้อมูลชั่วคราวในหน่วยความจำ" — ตอนต่อ MySQL จะเปลี่ยนแค่ข้างในเมธอดให้ไปเรียก API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เทคนิค: สร้างโครงเปล่า (stub) ก่อน แล้วค่อยเติมทีละหน้า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3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949440" cy="2651760"/>
          </a:xfrm>
          <a:prstGeom prst="roundRect">
            <a:avLst>
              <a:gd name="adj" fmla="val 4138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ตัวอย่าง stub 1 ใน 8 ไฟล์ (ดูครบในคู่มือ)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583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lib/screens/equipment_detail_screen.dart (ชั่วคราว)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'package:flutter/material.dart'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EquipmentDetailScreen extends StatelessWidget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String equipmentId;      </a:t>
            </a:r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← พารามิเตอร์ต้องตรงกับของจริง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EquipmentDetailScreen({super.key, required this.equipmentId});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@override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Widget build(BuildContext context) =&gt;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Scaffold(body: Center(child: Text(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'Detail $equipmentId (TODO)'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6949440" cy="2057400"/>
          </a:xfrm>
          <a:prstGeom prst="roundRect">
            <a:avLst>
              <a:gd name="adj" fmla="val 533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336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ไฟล์ · 8 คลาส · constructor ที่ต้องตรง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720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login_screen.dart          LoginScreen()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register_screen.dart       RegisterScreen()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home_shell.dart            HomeShell({initialIndex})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equipment_list_screen.dart EquipmentListScreen()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equipment_detail_screen.dart EquipmentDetailScreen({required equipmentId})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equipment_form_screen.dart EquipmentFormScreen({Equipment? existing})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my_borrows_screen.dart     MyBorrowsScreen()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profile_screen.dart        ProfileScreen()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80960" y="1325880"/>
            <a:ext cx="4069080" cy="2377440"/>
          </a:xfrm>
          <a:prstGeom prst="roundRect">
            <a:avLst>
              <a:gd name="adj" fmla="val 5769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 stub?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1965960"/>
            <a:ext cx="3611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 Login import HomeShell · HomeShell import 3 หน้า · รายการ import รายละเอียด …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ถ้าไม่มีไฟล์ปลายทาง โปรเจกต์คอมไพล์ไม่ผ่านตั้งแต่หน้าแรก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680960" y="3886200"/>
            <a:ext cx="4069080" cy="2331720"/>
          </a:xfrm>
          <a:prstGeom prst="roundRect">
            <a:avLst>
              <a:gd name="adj" fmla="val 5882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4023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452628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เปลี่ยน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home: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ใน main.dart เป็น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LoginScreen()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รันแล้วเห็น "Login (TODO)" กลางจอ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analyze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ไม่มี error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หน้าเข้าสู่ระบบและสมัครสมาชิก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 Login รับข้อความ ซ่อน/แสดงรหัสผ่าน และไปหน้าหลักเมื่อสำเร็จโดยกด back กลับมาไม่ได้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60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StatefulWidget, Controller และการนำทาง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120640" cy="4892040"/>
          </a:xfrm>
          <a:prstGeom prst="roundRect">
            <a:avLst>
              <a:gd name="adj" fmla="val 2804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46634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StatefulWidget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setState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สลับไอคอนตา (ซ่อน/แสดงรหัสผ่าน)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TextEditingController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อ่านค่าที่พิมพ์ และต้อง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dispose()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Navigator.push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= ซ้อนหน้าใหม่ (back ได้)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Navigator.pushReplacement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= แทนที่หน้าเดิม (back ไม่ได้) ใช้หลัง Login สำเร็จ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TextFormField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validator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ตรวจข้อมูลหน้าสมัคร</a:t>
            </a:r>
            <a:endParaRPr lang="en-US" sz="13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SnackBar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แจ้งผลสั้น 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0" y="1325880"/>
            <a:ext cx="589788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399032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login_screen.dart (ย่อ)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737360"/>
            <a:ext cx="5532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 _userCtrl = TextEditingController();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 _passCtrl = TextEditingController();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bool _obscure = true;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void _login()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ok = AppState.instance.login(_userCtrl.text, _passCtrl.text);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(!ok)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ScaffoldMessenger.of(context).showSnackBar(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const SnackBar(content: Text(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'กรุณากรอกอีเมล/ชื่อผู้ใช้ และรหัสผ่าน'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Navigator.of(context).pushReplacement(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MaterialPageRoute(builder: (_) =&gt; const HomeShell()));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TextField(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controller: _passCtrl,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obscureText: _obscure,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decoration: InputDecoration(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labelText: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'รหัสผ่าน'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suffixIcon: IconButton(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icon: Icon(_obscure ? Icons.visibility_outlined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        : Icons.visibility_off_outlined),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onPressed: () =&gt; setState(() =&gt; _obscure = !_obscure),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),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 widget ของหน้า Login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315200" cy="3566160"/>
          </a:xfrm>
          <a:prstGeom prst="roundRect">
            <a:avLst>
              <a:gd name="adj" fmla="val 3077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 tree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9494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Scaffold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SafeArea → Center → SingleChildScrollView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└─ ConstrainedBox(maxWidth: 420)     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ไม่กว้างเกินบนแท็บเล็ต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└─ Column (crossAxisAlignment: stretch)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├─ โลโก้ (Container + Icon)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├─ Text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'LabStock'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(32, หนา, Indigo)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├─ Text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'คลังอุปกรณ์แล็บ ICE'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(สีจาง)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├─ TextField อีเมล/ชื่อผู้ใช้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├─ TextField รหัสผ่าน (obscureText + ไอคอนตา)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├─ ElevatedButton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'เข้าสู่ระบบ'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└─ Row: Text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'ยังไม่มีบัญชี?'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TextButton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'สมัครสมาชิก'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7315200" cy="1188720"/>
          </a:xfrm>
          <a:prstGeom prst="roundRect">
            <a:avLst>
              <a:gd name="adj" fmla="val 11538"/>
            </a:avLst>
          </a:prstGeom>
          <a:solidFill>
            <a:srgbClr val="F3E9F8"/>
          </a:solidFill>
          <a:ln w="12700">
            <a:solidFill>
              <a:srgbClr val="F3E9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1663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669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1206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A1B9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สำหรับผู้สอน: ให้นักศึกษาวาด widget tree ของหน้านี้บนกระดาษก่อนเปิดโค้ด แล้วค่อยเทียบ — ฝึกมองหน้าจอเป็นต้นไม้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723376" y="1271016"/>
            <a:ext cx="2360066" cy="5001768"/>
          </a:xfrm>
          <a:prstGeom prst="roundRect">
            <a:avLst>
              <a:gd name="adj" fmla="val 968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5" name="Image 0" descr="/Users/kittipongnuanyai/Code_KPN/App1/docs/shot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25880"/>
            <a:ext cx="22503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Checkpoint: หน้า Login และสมัครสมาชิก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985662" cy="4937760"/>
          </a:xfrm>
          <a:prstGeom prst="roundRect">
            <a:avLst>
              <a:gd name="adj" fmla="val 2778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55284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 — ตรวจก่อนไปขั้นถัดไป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552846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 Login มีโลโก้ ชื่อแอป ช่อง 2 ช่อง ปุ่ม และลิงก์สมัคร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กดไอคอนตา รหัสผ่านซ่อน/แสดงสลับกัน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กดเข้าสู่ระบบโดยไม่กรอก → SnackBar เตือน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กรอกแล้วกด → ไปหน้า "Home (TODO)" กด back ไม่กลับมา Login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หน้าสมัคร: กดสมัครโดยไม่กรอก → ข้อความแดงใต้ช่อง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ท้าทาย: validator อีเมลต้องมี @ · ใส่โลโก้จริงด้วย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Image.asset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53758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8622" y="1280160"/>
            <a:ext cx="2187245" cy="4754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1422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เข้าสู่ระบบ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398203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4" name="Image 1" descr="/Users/kittipongnuanyai/Code_KPN/App1/docs/shots/02_regi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067" y="1280160"/>
            <a:ext cx="2187245" cy="4754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995867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สมัครสมาชิก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โครงหน้าหลักและแถบเมนูด้านล่าง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HomeShell ที่มี BottomNavigationBar สลับ 3 หน้า โดยแต่ละหน้ายังคงสถานะไว้เมื่อสลับไปมา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40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IndexedStack + BottomNavigationBar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31520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lib/screens/home_shell.dart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_HomeShellState extends State&lt;HomeShell&gt;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late int _index = widget.initialIndex;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static const _pages =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EquipmentListScreen(),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MyBorrowsScreen(),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ProfileScreen(),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];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Scaffold(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body: IndexedStack(index: _index, children: _pages),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bottomNavigationBar: BottomNavigationBar(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currentIndex: _index,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onTap: (i) =&gt; setState(() =&gt; _index = i),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items: const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BottomNavigationBarItem(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icon: Icon(Icons.grid_view_outlined), label: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'รายการ'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BottomNavigationBarItem(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icon: Icon(Icons.assignment_outlined), label: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'การยืมของฉัน'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BottomNavigationBarItem(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icon: Icon(Icons.person_outline), label: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'โปรไฟล์'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1325880"/>
            <a:ext cx="3703320" cy="2651760"/>
          </a:xfrm>
          <a:prstGeom prst="roundRect">
            <a:avLst>
              <a:gd name="adj" fmla="val 5172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14630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1965960"/>
            <a:ext cx="32461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IndexedStack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สร้างทั้ง 3 หน้าไว้ แสดงทีละหน้า → ข้อความค้นหาไม่หายเมื่อสลับแท็บ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หน้าที่ถูก push ทับ (รายละเอียด/ฟอร์ม) จะไม่มีแถบล่าง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160520"/>
            <a:ext cx="3703320" cy="2057400"/>
          </a:xfrm>
          <a:prstGeom prst="roundRect">
            <a:avLst>
              <a:gd name="adj" fmla="val 6667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42976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4800600"/>
            <a:ext cx="3246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หลัง Login เห็นแถบล่าง 3 เมนู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กดแล้วข้อความกลางจอเปลี่ยน (TODO ของแต่ละหน้า)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ไอคอนที่เลือกเป็นสี Indigo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หน้ารายการอุปกรณ์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กริดการ์ด ค้นหา กรองตามหมวด ป้าย "ยืมไม่ได้" และปุ่ม + เฉพาะแอดมิน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70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GridView, Chip, และการกรองข้อมูล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846320" cy="4892040"/>
          </a:xfrm>
          <a:prstGeom prst="roundRect">
            <a:avLst>
              <a:gd name="adj" fmla="val 2830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65960"/>
            <a:ext cx="4389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GridView.builder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SliverGridDelegateWithMaxCrossAxisExtent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ปรับคอลัมน์ตามความกว้างจอเอง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ChoiceChip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ในแถวเลื่อนแนวนอน (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SingleChildScrollView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)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ListenableBuilder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ฟัง AppState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Card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InkWell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การ์ดกดได้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กรองด้วย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toLowerCase()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แสดง widget ตามเงื่อนไข: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state.isAdmin ? FAB : null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Expanded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ในแถวกันข้อความล้น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77840" y="1325880"/>
            <a:ext cx="617220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399032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equipment_list_screen.dart (ย่อ)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737360"/>
            <a:ext cx="5806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List&lt;Equipment&gt; _filtered(List&lt;Equipment&gt; all)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q = _query.trim().toLowerCase();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all.where((e)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matchCat = _category == null || e.category == _category;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matchQ = q.isEmpty || e.name.toLowerCase().contains(q);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matchCat &amp;&amp; matchQ;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}).toList();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Expanded(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child: GridView.builder(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padding: const EdgeInsets.fromLTRB(16, 4, 16, 88),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gridDelegate: const SliverGridDelegateWithMaxCrossAxisExtent(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maxCrossAxisExtent: 220,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mainAxisSpacing: 12, crossAxisSpacing: 12,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childAspectRatio: 0.82,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itemCount: items.length,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itemBuilder: (_, i) =&gt; _EquipmentCard(item: items[i]),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floatingActionButton: state.isAdmin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? FloatingActionButton(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onPressed: () =&gt; Navigator.of(context).push(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MaterialPageRoute(builder: (_) =&gt; const EquipmentFormScreen())),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child: const Icon(Icons.add))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: null,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โครง widget และกฎ UI ของการ์ด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132320" cy="2743200"/>
          </a:xfrm>
          <a:prstGeom prst="roundRect">
            <a:avLst>
              <a:gd name="adj" fmla="val 4000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 tree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766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Scaffold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appBar: AppBar(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'LabStock'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actions: [🔔])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body: Column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├─ TextField (ค้นหา)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├─ SingleChildScrollView(horizontal) → Row ของ ChoiceChip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└─ Expanded → GridView.builder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       └─ Card → InkWell → Column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            ├─ Expanded → EquipmentImage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            └─ Text(ชื่อ) + Row[ Text(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'เหลือ N'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ป้าย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'ยืมไม่ได้'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floatingActionButton: FAB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'+'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(เฉพาะ admin)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bottomNavigationBar: (มาจาก HomeShell)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7132320" cy="2011680"/>
          </a:xfrm>
          <a:prstGeom prst="roundRect">
            <a:avLst>
              <a:gd name="adj" fmla="val 5455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2793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ป้ายแดงเมื่อเหลือ 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17720"/>
            <a:ext cx="6766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(item.isOutOfStock)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Container(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padding: const EdgeInsets.symmetric(horizontal: 8, vertical: 2),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decoration: BoxDecoration(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color: AppColors.danger,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borderRadius: BorderRadius.circular(8)),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child: const 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'ยืมไม่ได้'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style: TextStyle(color: Colors.white, fontSize: 11)),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),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723376" y="1271016"/>
            <a:ext cx="2360066" cy="5001768"/>
          </a:xfrm>
          <a:prstGeom prst="roundRect">
            <a:avLst>
              <a:gd name="adj" fmla="val 968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4" name="Image 0" descr="/Users/kittipongnuanyai/Code_KPN/App1/docs/shots/03_list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325880"/>
            <a:ext cx="22503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Checkpoint: หน้ารายการอุปกรณ์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630107" cy="4937760"/>
          </a:xfrm>
          <a:prstGeom prst="roundRect">
            <a:avLst>
              <a:gd name="adj" fmla="val 2778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8172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 — ตรวจก่อนไปขั้นถัดไป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8172907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การ์ด 8 ใบ กริด 2 คอลัมน์บนมือถือ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DHT22: "เหลือ 0" สีแดง + ป้าย "ยืมไม่ได้"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พิมพ์ "ard" เหลือแค่ Arduino · กดชิป "สาย" เหลือ 2 ใบ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Login เป็น admin เห็นปุ่ม + สีอำพัน · ชื่ออื่นไม่เห็น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แตะการ์ด → "Detail e1 (TODO)"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ท้าทาย: เมนูเรียงลำดับด้วย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PopupMenuButton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· การ์ดที่หมดให้จางด้วย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Opacity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98203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3_list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3067" y="1280160"/>
            <a:ext cx="2187245" cy="4754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995867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มุมมองแอดมิน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หน้ารายละเอียดอุปกรณ์และ Dialog ยืม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 id จากหน้ารายการ แสดงข้อมูลชิ้นเดียว เปิด Dialog เลือกจำนวน/วันคืน แล้วบันทึกลง AppState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70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ส่งค่าไปหน้าใหม่ และรับค่ากลับจาก Dialog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40664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equipment_detail_screen.dart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70408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หน้ารายการ: ส่งแค่ 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Navigator.of(context).push(MaterialPageRoute(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builder: (_) =&gt; EquipmentDetailScreen(equipmentId: item.id)));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หน้ารายละเอียด: ค้นข้อมูลสดจาก AppState ด้วย id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 item = state.findEquipment(equipmentId);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เปิด Dialog แล้ว "รอ" ค่าที่ส่งกลับ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Future&lt;void&gt; _showBorrowDialog(BuildContext context, Equipment item)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result = await showDialog&lt;_BorrowRequest&gt;(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context: context,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builder: (_) =&gt; _BorrowDialog(item: item),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(result == null || !context.mounted) return;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กดยกเลิก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ok = AppState.instance.borrow(item, result.quantity, result.dueDate);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(!context.mounted) return;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ScaffoldMessenger.of(context).showSnackBar(SnackBar(content: Text(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ok ?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'ยืม ${item.name} x${result.quantity} สำเร็จ'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'ยืมไม่สำเร็จ'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(ok) Navigator.of(context).pop();      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กลับหน้ารายการ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ใน Dialog: ส่งค่ากลับ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FilledButton(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onPressed: () =&gt; Navigator.pop(context, _BorrowRequest(_qty, _due)),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child: const 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'ยืนยันยืม'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38160" y="1325880"/>
            <a:ext cx="3611880" cy="4892040"/>
          </a:xfrm>
          <a:prstGeom prst="roundRect">
            <a:avLst>
              <a:gd name="adj" fmla="val 3797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4630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1965960"/>
            <a:ext cx="3154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ส่ง id ไม่ส่ง object → ข้อมูลสดเสมอ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showDialog&lt;T&gt;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คืน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Future&lt;T?&gt;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· null = ยกเลิก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Navigator.pop(context, value)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ส่งค่ากลับ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context.mounted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ตรวจก่อนใช้ context หลัง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onPressed: null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= ปุ่มปิด (ของหมด)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showDatePicker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เลือกวันคืน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หน้ารายละเอียดและ Dialog ยืม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30936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 tree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5943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Scaffold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appBar: AppBar(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'รายละเอียดอุปกรณ์'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│     actions: [ if (isAdmin) IconButton(ดินสอ) 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body: SingleChildScrollView → Column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├─ ClipRRect → AspectRatio(16/10) → EquipmentImage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├─ Text(ชื่อ, headlineSmall)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├─ _InfoRow(หมวด) · _InfoRow(คงเหลือ x / y ชิ้น)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├─ Text(รายละเอียด)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└─ ElevatedButton.icon(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'ยืมอุปกรณ์'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onPressed: isOutOfStock ? null : _showBorrowDialog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AlertDialog (_BorrowDialog: StatefulWidget)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Row: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'จำนวน'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[−]  N  [+]     (จำกัดไม่เกิน available)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├─ ListTile: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'วันคืน'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+ วันที่  → showDatePicker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└─ actions: ยกเลิก · ยืนยันยืม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77456" y="1271016"/>
            <a:ext cx="2360066" cy="5001768"/>
          </a:xfrm>
          <a:prstGeom prst="roundRect">
            <a:avLst>
              <a:gd name="adj" fmla="val 968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4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25880"/>
            <a:ext cx="2250338" cy="4892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546336" y="1271016"/>
            <a:ext cx="2360066" cy="5001768"/>
          </a:xfrm>
          <a:prstGeom prst="roundRect">
            <a:avLst>
              <a:gd name="adj" fmla="val 968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3" name="Image 1" descr="/Users/kittipongnuanyai/Code_KPN/App1/docs/shots/05_borrow_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25880"/>
            <a:ext cx="22503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Checkpoint: รายละเอียดและการยืม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7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985662" cy="4937760"/>
          </a:xfrm>
          <a:prstGeom prst="roundRect">
            <a:avLst>
              <a:gd name="adj" fmla="val 2778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55284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 — ตรวจก่อนไปขั้นถัดไป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552846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แตะ Arduino เห็นรูปใหญ่ ชื่อ หมวด คงเหลือ 5 / 10 รายละเอียด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แตะ DHT22 ปุ่มยืมเป็นสีเทา กดไม่ได้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กดยืม → Dialog กด + ได้ไม่เกินจำนวนที่เหลือ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ยืนยัน → กลับหน้ารายการ การ์ดเปลี่ยนเป็น "เหลือ 4" ทันที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admin เห็นดินสอใน AppBar → "Form (TODO)"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ท้าทาย: ช่อง "เหตุผลที่ยืม" · จำกัดวันคืนไม่เกิน 14 วัน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53758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4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8622" y="1280160"/>
            <a:ext cx="2187245" cy="4754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1422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รายละเอียด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398203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4" name="Image 1" descr="/Users/kittipongnuanyai/Code_KPN/App1/docs/shots/05_borrow_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067" y="1280160"/>
            <a:ext cx="2187245" cy="4754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995867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Dialog ยืม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หน้าการยืมของฉัน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แท็บ กำลังยืม / ประวัติ ป้ายเตือนใกล้ครบกำหนด และปุ่มคืนของที่คืนจำนวนเข้าสต็อก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50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TabBar และการแยก widget ย่อย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58952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my_borrows_screen.dart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72237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DefaultTabController(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length: 2,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child: Scaffold(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appBar: AppBar(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title: const 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'การยืมของฉัน'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bottom: const TabBar(tabs: [Tab(text: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'กำลังยืม'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Tab(text: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'ประวัติ'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)]),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body: ListenableBuilder(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listenable: state,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builder: (context, _) =&gt; TabBarView(children: [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_BorrowList(borrows: state.activeBorrows, emptyText: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'ยังไม่มีรายการที่กำลังยืม'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_BorrowList(borrows: state.borrowHistory, emptyText: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'ยังไม่มีประวัติการยืม'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]),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ป้ายเตือนในการ์ด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Widget? badge;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(b.isOverdue)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badge = _Badge(color: AppColors.danger, icon: Icons.error_outline,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label: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'เลยกำหนด ${-b.daysLeft} วัน'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 else if (b.isDueSoon)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badge = _Badge(color: Colors.orange.shade700, icon: Icons.warning_amber_rounded,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label: b.daysLeft == 0 ?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'ครบกำหนดวันนี้'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'อีก ${b.daysLeft} วันครบกำหนด'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0" y="1325880"/>
            <a:ext cx="3429000" cy="4892040"/>
          </a:xfrm>
          <a:prstGeom prst="roundRect">
            <a:avLst>
              <a:gd name="adj" fmla="val 4000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14630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965960"/>
            <a:ext cx="2971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DefaultTabController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TabBar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(ใน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AppBar.bottom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) +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TabBarView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ListView.builder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รายการแนวตั้ง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แยก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_BorrowList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_BorrowCard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_Badge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→ อ่านง่าย ใช้ซ้ำ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Empty state เมื่อไม่มีข้อมูล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Dialog ยืนยันก่อนคืนของ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Checkpoint: การยืมของฉัน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8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630107" cy="4937760"/>
          </a:xfrm>
          <a:prstGeom prst="roundRect">
            <a:avLst>
              <a:gd name="adj" fmla="val 2778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81729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 — ตรวจก่อนไปขั้นถัดไป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8172907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แท็บกำลังยืม: Arduino x1 (ป้ายส้ม อีก 2 วัน) และ Servo x2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แท็บประวัติ: 2 รายการที่คืนแล้ว มีเครื่องหมายถูกเขียว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กดคืนของ → ยืนยัน → ย้ายไปแท็บประวัติ และหน้ารายการได้จำนวนคืน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ยืมจากหน้ารายละเอียด กลับมาแท็บนี้ เห็นรายการใหม่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ท้าทาย: แก้ mock ให้มีรายการเลยกำหนด (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dueDate: d(-1)</a:t>
            </a:r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) ดูป้ายแดง · Badge ตัวเลขบนไอคอนแท็บ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98203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7_borro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3067" y="1280160"/>
            <a:ext cx="2187245" cy="4754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995867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กำลังยืม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หน้าโปรไฟล์และออกจากระบบ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แสดงผู้ใช้ปัจจุบัน เมนูรายการ และออกจากระบบแบบล้าง stack ทั้งหมด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30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pushAndRemoveUntil และ ListTile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9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38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035040" cy="3566160"/>
          </a:xfrm>
          <a:prstGeom prst="roundRect">
            <a:avLst>
              <a:gd name="adj" fmla="val 3077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profile_screen.dart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5669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void _logout(BuildContext context)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AppState.instance.logout();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Navigator.of(context).pushAndRemoveUntil(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MaterialPageRoute(builder: (_) =&gt; const LoginScreen()),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(route) =&gt; false,     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← ลบทุกหน้าใน stack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ListTile(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leading: const Icon(Icons.info_outline, color: AppColors.indigo),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title: const 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'เกี่ยวกับแอป'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trailing: const Icon(Icons.chevron_right),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onTap: () =&gt; showAboutDialog(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context: context,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applicationName: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'LabStock'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applicationVersion: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'1.0.0 (UI phase)'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029200"/>
            <a:ext cx="6035040" cy="1188720"/>
          </a:xfrm>
          <a:prstGeom prst="roundRect">
            <a:avLst>
              <a:gd name="adj" fmla="val 11538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16636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6692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1206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push = ซ้อน · pushReplacement = แทนที่ 1 หน้า · pushAndRemoveUntil = แทนที่แล้วลบทั้ง stack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66560" y="1325880"/>
            <a:ext cx="2651760" cy="4892040"/>
          </a:xfrm>
          <a:prstGeom prst="roundRect">
            <a:avLst>
              <a:gd name="adj" fmla="val 5172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951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1965960"/>
            <a:ext cx="2194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ชื่อ/บทบาท/รหัสตรงกับที่ login</a:t>
            </a:r>
            <a:endParaRPr lang="en-US" sz="16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เกี่ยวกับแอป → Dialog</a:t>
            </a:r>
            <a:endParaRPr lang="en-US" sz="16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ออกจากระบบ → Login และ back ไม่กลับเข้าแอป</a:t>
            </a:r>
            <a:endParaRPr lang="en-US" sz="16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ท้าทาย: เมนูประวัติ → </a:t>
            </a:r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HomeShell(initialIndex: 1)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92056" y="1271016"/>
            <a:ext cx="2360066" cy="5001768"/>
          </a:xfrm>
          <a:prstGeom prst="roundRect">
            <a:avLst>
              <a:gd name="adj" fmla="val 9686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8" name="Image 0" descr="/Users/kittipongnuanyai/Code_KPN/App1/docs/shots/08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1325880"/>
            <a:ext cx="2250338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ฟอร์มเพิ่ม/แก้ไขอุปกรณ์ และการเลือกรูปภาพ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ฟอร์มเดียวใช้ได้ 2 โหมด ตรวจสอบข้อมูล และเลือกรูปจากกล้อง/คลังภาพด้วย image_picker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70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package ภายนอก และ permission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583680" cy="777240"/>
          </a:xfrm>
          <a:prstGeom prst="roundRect">
            <a:avLst>
              <a:gd name="adj" fmla="val 14118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Terminal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pub add image_picker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6583680" cy="1463040"/>
          </a:xfrm>
          <a:prstGeom prst="roundRect">
            <a:avLst>
              <a:gd name="adj" fmla="val 7500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134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ios/Runner/Info.plist (เพิ่มก่อน &lt;/dict&gt;) · Android ไม่ต้อง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651760"/>
            <a:ext cx="6217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&lt;key&gt;NSCameraUsageDescription&lt;/key&gt;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&lt;string&gt;ใช้กล้องเพื่อถ่ายรูปอุปกรณ์&lt;/string&gt;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&lt;key&gt;NSPhotoLibraryUsageDescription&lt;/key&gt;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&lt;string&gt;ใช้คลังภาพเพื่อเลือกรูปอุปกรณ์&lt;/string&gt;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6583680" cy="2377440"/>
          </a:xfrm>
          <a:prstGeom prst="roundRect">
            <a:avLst>
              <a:gd name="adj" fmla="val 4615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1363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equipment_form_screen.dart (ย่อ)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51960"/>
            <a:ext cx="6217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Future&lt;void&gt; _pickImage()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source = await showModalBottomSheet&lt;ImageSource&gt;(  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ถ่าย / คลังภาพ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context: context, builder: (_) =&gt; ...);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(source == null) return;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try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file = await ImagePicker().pickImage(source: source, maxWidth: 1200);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if (file != null) setState(() =&gt; _imagePath = file.path);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 catch (e)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ScaffoldMessenger.of(context).showSnackBar(SnackBar(content: 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'เลือกรูปไม่สำเร็จ: $e'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1325880"/>
            <a:ext cx="4434840" cy="4892040"/>
          </a:xfrm>
          <a:prstGeom prst="roundRect">
            <a:avLst>
              <a:gd name="adj" fmla="val 3093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14630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pub add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เพิ่ม dependency ใน pubspec.yaml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iOS ต้องประกาศเหตุผลการขอสิทธิ์ ไม่งั้นแอปปิดตัวทันทีที่เรียกกล้อง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async/await กับ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pickImage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และ try/catch ดัก error (Simulator ไม่มีกล้อง)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showModalBottomSheet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ให้ผู้ใช้เลือกแหล่งรูป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kIsWeb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ตรวจก่อนใช้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Image.file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(ใช้บนเว็บไม่ได้)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widget เดียว 2 โหมด: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Equipment? existing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null = เพิ่ม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DropdownButtonFormField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ผูกกับ enum ·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inputFormatters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ตัวเลขเท่านั้น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ฟอร์มเดียว 2 โหมด: เพิ่ม และ แก้ไข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00" cy="4892040"/>
          </a:xfrm>
          <a:prstGeom prst="roundRect">
            <a:avLst>
              <a:gd name="adj" fmla="val 2243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equipment_form_screen.dart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class EquipmentFormScreen extends StatefulWidget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Equipment? existing;      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null = โหมดเพิ่ม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EquipmentFormScreen({super.key, this.existing});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bool get _isEdit =&gt; widget.existing != null;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late final _nameCtrl = TextEditingController(text: widget.existing?.name);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void _save()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(!_formKey.currentState!.validate()) return;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final total = int.parse(_totalCtrl.text.trim());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(_isEdit)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item = widget.existing!;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final borrowed = item.total - item.available;   </a:t>
            </a:r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ที่ถูกยืมอยู่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item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..name = _nameCtrl.text.trim()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..category = _category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..total = total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..available = (total - borrowed).clamp(0, total)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..description = _descCtrl.text.trim();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state.updateEquipment(item);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 else 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state.addEquipment(Equipment(id: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'e${DateTime.now().millisecondsSinceEpoch}'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name: ..., total: total, available: total, ...));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Navigator.of(context).pop();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23176" y="1271016"/>
            <a:ext cx="2254910" cy="4773168"/>
          </a:xfrm>
          <a:prstGeom prst="roundRect">
            <a:avLst>
              <a:gd name="adj" fmla="val 10138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9_form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25880"/>
            <a:ext cx="2145182" cy="46634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720840" y="6080760"/>
            <a:ext cx="3059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โหมดเพิ่ม (ว่าง)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592056" y="1271016"/>
            <a:ext cx="2254910" cy="4773168"/>
          </a:xfrm>
          <a:prstGeom prst="roundRect">
            <a:avLst>
              <a:gd name="adj" fmla="val 10138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4" name="Image 1" descr="/Users/kittipongnuanyai/Code_KPN/App1/docs/shots/06_form_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325880"/>
            <a:ext cx="2145182" cy="46634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189720" y="6080760"/>
            <a:ext cx="30595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โหมดแก้ไข (กรอกไว้)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178040" y="62636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Checkpoint: ฟอร์มและรูปภาพ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985662" cy="4937760"/>
          </a:xfrm>
          <a:prstGeom prst="roundRect">
            <a:avLst>
              <a:gd name="adj" fmla="val 2778"/>
            </a:avLst>
          </a:prstGeom>
          <a:solidFill>
            <a:srgbClr val="EAF5EA"/>
          </a:solidFill>
          <a:ln w="12700">
            <a:solidFill>
              <a:srgbClr val="EAF5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17320"/>
            <a:ext cx="55284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✔ Checkpoint — ตรวจก่อนไปขั้นถัดไป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552846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admin กด + → ฟอร์มว่าง หัวข้อ "เพิ่มอุปกรณ์"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กดบันทึกโดยไม่กรอก → เตือนใต้ช่องชื่อและจำนวน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กรอกครบ → กลับหน้ารายการ เห็นการ์ดใหม่ต่อท้าย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จากรายละเอียด กดดินสอ → ฟอร์มมีข้อมูลเดิม หัวข้อ "แก้ไขอุปกรณ์"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ถ่าย/เลือกรูป → bottom sheet 2 ตัวเลือก (Simulator ใช้คลังภาพ)</a:t>
            </a:r>
            <a:endParaRPr lang="en-US" sz="18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ท้าทาย: ปุ่มลบในโหมดแก้ไข + Dialog ยืนยัน + </a:t>
            </a:r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removeEquipment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53758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1" name="Image 0" descr="/Users/kittipongnuanyai/Code_KPN/App1/docs/shots/09_form_ad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8622" y="1280160"/>
            <a:ext cx="2187245" cy="475488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1422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9398203" y="1225296"/>
            <a:ext cx="2296973" cy="4864608"/>
          </a:xfrm>
          <a:prstGeom prst="roundRect">
            <a:avLst>
              <a:gd name="adj" fmla="val 9952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14" name="Image 1" descr="/Users/kittipongnuanyai/Code_KPN/App1/docs/shots/06_form_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067" y="1280160"/>
            <a:ext cx="2187245" cy="4754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8995867" y="6126480"/>
            <a:ext cx="31016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แก้ไข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2377440" cy="237744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4630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B247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77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ทดสอบอัตโนมัติ สรุป และก้าวต่อไป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30175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เขียน widget test ตรวจ flow หลัก ทบทวนสิ่งที่เรียนรู้ และเตรียมต่อ MySQL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4480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⏱ ประมาณ 40 นาที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ความรู้ใหม่: widget test ยืนยันว่า flow ยังทำงาน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7498080" cy="3840480"/>
          </a:xfrm>
          <a:prstGeom prst="roundRect">
            <a:avLst>
              <a:gd name="adj" fmla="val 2857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990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test/widget_test.dart (ย่อ)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7132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testWidgets(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'login as student then navigate tabs'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 (tester)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tester.pumpWidget(const LabStockApp());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expect(find.text(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'LabStock'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findsOneWidget);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tester.enterText(find.byType(TextField).first,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'somchai'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tester.enterText(find.byType(TextField).last,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'123456'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tester.tap(find.widgetWithText(ElevatedButton,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'เข้าสู่ระบบ'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tester.pumpAndSettle();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expect(find.text(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'Arduino UNO R3'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findsOneWidget);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expect(find.byType(FloatingActionButton), findsNothing); </a:t>
            </a:r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A93B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// นักศึกษาไม่เห็น +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expect(find.text(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'ยืมไม่ได้'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findsOneWidget);          // DHT22 เหลือ 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tester.tap(find.text(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'โปรไฟล์'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tester.pumpAndSettle();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tester.tap(find.text(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'ออกจากระบบ'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await tester.pumpAndSettle();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expect(find.text(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BE9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'เข้าสู่ระบบ'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), findsOneWidget);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349240"/>
            <a:ext cx="7498080" cy="868680"/>
          </a:xfrm>
          <a:prstGeom prst="roundRect">
            <a:avLst>
              <a:gd name="adj" fmla="val 12632"/>
            </a:avLst>
          </a:prstGeom>
          <a:solidFill>
            <a:srgbClr val="1E2235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4864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analyze      # No issues found!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8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flutter test         # All tests passed!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325880"/>
            <a:ext cx="3520440" cy="4892040"/>
          </a:xfrm>
          <a:prstGeom prst="roundRect">
            <a:avLst>
              <a:gd name="adj" fmla="val 3896"/>
            </a:avLst>
          </a:prstGeom>
          <a:solidFill>
            <a:srgbClr val="E3F5FD"/>
          </a:solidFill>
          <a:ln w="12700">
            <a:solidFill>
              <a:srgbClr val="E3F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14630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579B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แนวคิด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1965960"/>
            <a:ext cx="3063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pumpWidget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สร้างแอปในหน่วยความจำ ไม่ต้องเปิด Emulator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enterText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tap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จำลองผู้ใช้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pumpAndSettle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รอแอนิเมชันจบ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find.text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find.byType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หา widget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expect(..., findsOneWidget)</a:t>
            </a:r>
            <a:endParaRPr lang="en-US" sz="12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ทดสอบเป็นตาข่ายกันพัง ตอนต่อ MySQL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สรุป: ทำแอปเดียว ได้ครบทุกเรื่อง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45</a:t>
            </a: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92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281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หมวด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สิ่งที่ใช้ใน LabStock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35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โครงสร้าง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MaterialApp · Scaffold · AppBar · BottomNavigationBar · IndexedStack · TabBar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แสดงผล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GridView · ListView · Card · ListTile · CircleAvatar · Chip · Container/BoxDecoration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รับข้อมูล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TextField · TextFormField/validator · Dropdown · DatePicker · image_picker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นำทาง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push · pushReplacement · pushAndRemoveUntil · ส่งค่าผ่าน constructor · รับค่าจาก Dialog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สถานะ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StatefulWidget/setState · ChangeNotifier + ListenableBuilder · singleton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Dart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class · enhanced enum · getter · named params · async/await · where/map · cascade (..)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คุณภาพ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ธีมกลาง · แยก widget ย่อย · flutter analyze · widget test</a:t>
                      </a:r>
                      <a:endParaRPr lang="en-US" sz="18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ก้าวต่อไป: เฟส 2 ต่อฐานข้อมูล MySQL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360152" y="502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360152" y="502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STEP 11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3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371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 REST API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7556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PHP หรือ Node.js ครอบตาราง users / items / borrows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2414016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14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042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 package http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68833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สร้าง </a:t>
            </a:r>
            <a:pPr indent="0" marL="0"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lib/data/api_service.dart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เรียก GET/POST/PUT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7200" y="3346704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3467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23697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 AppState ให้เป็น Future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6210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เรียก API แล้ว </a:t>
            </a:r>
            <a:pPr indent="0" marL="0"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notifyListeners()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เมื่อได้ผล — หน้าจอไม่ต้องแก้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42793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16966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เพิ่ม loading และ error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CircularProgressIndicator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และ SnackBar เมื่อเน็ตล่ม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212080"/>
            <a:ext cx="566928" cy="56692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5212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10235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359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เก็บ session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4864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shared_preferences</a:t>
            </a:r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ไม่ต้อง login ทุกครั้ง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15200" y="1325880"/>
            <a:ext cx="4434840" cy="4892040"/>
          </a:xfrm>
          <a:prstGeom prst="roundRect">
            <a:avLst>
              <a:gd name="adj" fmla="val 3093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14630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D5A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โปรเจกต์ท้ายบท (เลือก 1)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54380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แจ้งเตือน: กระดิ่งแสดงจำนวนที่จะครบกำหนดใน 3 วัน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หน้าแอดมิน: ดูรายการยืมของทุกคน อนุมัติ/ปฏิเสธ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โหมดมืด: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darkTheme</a:t>
            </a:r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 + สวิตช์ในหน้าตั้งค่า</a:t>
            </a:r>
            <a:endParaRPr lang="en-US" sz="1700" dirty="0"/>
          </a:p>
          <a:p>
            <a:pPr algn="l" marL="228600" indent="-2286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ค้นหาขั้นสูง: หลายหมวดพร้อมกันด้วย </a:t>
            </a:r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8359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FilterChip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835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ขอบคุณครับ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5CAE9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เอกสารประกอบ: คู่มือปฏิบัติการ LabStock (PDF) มีโค้ดเต็มทุกไฟล์ + Checkpoint ทุกขั้นตอน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B30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ทดลองเข้าสู่ระบบ: ชื่อผู้ใช้ขึ้นต้นด้วย admin = แอดมิน · อื่น ๆ = นักศึกษา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454896" y="585216"/>
            <a:ext cx="2591410" cy="5504688"/>
          </a:xfrm>
          <a:prstGeom prst="roundRect">
            <a:avLst>
              <a:gd name="adj" fmla="val 8821"/>
            </a:avLst>
          </a:prstGeom>
          <a:solidFill>
            <a:srgbClr val="E8EAF6"/>
          </a:solidFill>
          <a:ln w="12700">
            <a:solidFill>
              <a:srgbClr val="E8EAF6"/>
            </a:solidFill>
            <a:prstDash val="solid"/>
          </a:ln>
        </p:spPr>
      </p:sp>
      <p:pic>
        <p:nvPicPr>
          <p:cNvPr id="6" name="Image 0" descr="/Users/kittipongnuanyai/Code_KPN/App1/docs/shots/08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640080"/>
            <a:ext cx="2481682" cy="53949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LabStock · 5534408 การพัฒนาแอปพลิเคชันบนอุปกรณ์เคลื่อนที่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B0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LabStock — สไลด์สอน Flutter 12 ขั้นตอน</dc:title>
  <dc:subject>PptxGenJS Presentation</dc:subject>
  <dc:creator>รายวิชา 5534408</dc:creator>
  <cp:lastModifiedBy>รายวิชา 5534408</cp:lastModifiedBy>
  <cp:revision>1</cp:revision>
  <dcterms:created xsi:type="dcterms:W3CDTF">2026-09-13T16:19:29Z</dcterms:created>
  <dcterms:modified xsi:type="dcterms:W3CDTF">2026-09-13T16:19:29Z</dcterms:modified>
</cp:coreProperties>
</file>